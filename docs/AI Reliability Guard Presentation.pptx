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98A-4150-83E5-66DFC384DDB5}"/>
              </c:ext>
            </c:extLst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98A-4150-83E5-66DFC384DDB5}"/>
              </c:ext>
            </c:extLst>
          </c:dPt>
          <c:cat>
            <c:strRef>
              <c:f>Sheet1!$A$2:$A$3</c:f>
              <c:strCache>
                <c:ptCount val="2"/>
                <c:pt idx="0">
                  <c:v>Legitimate (96.5%)</c:v>
                </c:pt>
                <c:pt idx="1">
                  <c:v>Fraud (3.5%)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96.5</c:v>
                </c:pt>
                <c:pt idx="1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98A-4150-83E5-66DFC384DD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E8EDF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3A5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</c:v>
                </c:pt>
                <c:pt idx="1">
                  <c:v>W</c:v>
                </c:pt>
                <c:pt idx="2">
                  <c:v>H</c:v>
                </c:pt>
                <c:pt idx="3">
                  <c:v>S</c:v>
                </c:pt>
                <c:pt idx="4">
                  <c:v>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5.1999999999999998E-2</c:v>
                </c:pt>
                <c:pt idx="1">
                  <c:v>3.1E-2</c:v>
                </c:pt>
                <c:pt idx="2">
                  <c:v>2.8000000000000001E-2</c:v>
                </c:pt>
                <c:pt idx="3">
                  <c:v>2.1000000000000001E-2</c:v>
                </c:pt>
                <c:pt idx="4">
                  <c:v>1.7999999999999999E-2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D2-4B63-828E-F320CEB6A8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8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8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A5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%</c:v>
                </c:pt>
              </c:strCache>
            </c:strRef>
          </c:tx>
          <c:spPr>
            <a:ln w="31750" cap="flat">
              <a:solidFill>
                <a:srgbClr val="F5A62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0.40</c:v>
                </c:pt>
                <c:pt idx="1">
                  <c:v>0.50</c:v>
                </c:pt>
                <c:pt idx="2">
                  <c:v>0.60</c:v>
                </c:pt>
                <c:pt idx="3">
                  <c:v>0.70</c:v>
                </c:pt>
                <c:pt idx="4">
                  <c:v>0.80</c:v>
                </c:pt>
                <c:pt idx="5">
                  <c:v>0.90</c:v>
                </c:pt>
                <c:pt idx="6">
                  <c:v>0.95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95</c:v>
                </c:pt>
                <c:pt idx="2">
                  <c:v>87</c:v>
                </c:pt>
                <c:pt idx="3">
                  <c:v>76</c:v>
                </c:pt>
                <c:pt idx="4">
                  <c:v>60</c:v>
                </c:pt>
                <c:pt idx="5">
                  <c:v>38</c:v>
                </c:pt>
                <c:pt idx="6">
                  <c:v>18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A1E-4255-A107-5AA4821238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 %</c:v>
                </c:pt>
              </c:strCache>
            </c:strRef>
          </c:tx>
          <c:spPr>
            <a:ln w="31750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0.40</c:v>
                </c:pt>
                <c:pt idx="1">
                  <c:v>0.50</c:v>
                </c:pt>
                <c:pt idx="2">
                  <c:v>0.60</c:v>
                </c:pt>
                <c:pt idx="3">
                  <c:v>0.70</c:v>
                </c:pt>
                <c:pt idx="4">
                  <c:v>0.80</c:v>
                </c:pt>
                <c:pt idx="5">
                  <c:v>0.90</c:v>
                </c:pt>
                <c:pt idx="6">
                  <c:v>0.95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97.4</c:v>
                </c:pt>
                <c:pt idx="1">
                  <c:v>97.7</c:v>
                </c:pt>
                <c:pt idx="2">
                  <c:v>98.1</c:v>
                </c:pt>
                <c:pt idx="3">
                  <c:v>98.5</c:v>
                </c:pt>
                <c:pt idx="4">
                  <c:v>99</c:v>
                </c:pt>
                <c:pt idx="5">
                  <c:v>99.4</c:v>
                </c:pt>
                <c:pt idx="6">
                  <c:v>99.7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A1E-4255-A107-5AA4821238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BA8BF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8BA8BF"/>
                    </a:solidFill>
                    <a:latin typeface="Arial"/>
                  </a:rPr>
                  <a:t>Reliability Threshold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8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8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E8EDF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3A5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5871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2"/>
          </a:solidFill>
          <a:ln w="12700">
            <a:solidFill>
              <a:srgbClr val="1A2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606 · CAPSTONE PROJECT · UMBC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931920" y="109728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🛡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Reliability Guard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Forecasting and Reliability Modeling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Machine Learning Systems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3822192"/>
            <a:ext cx="2743200" cy="27432"/>
          </a:xfrm>
          <a:prstGeom prst="rect">
            <a:avLst/>
          </a:prstGeom>
          <a:solidFill>
            <a:srgbClr val="007D8A"/>
          </a:solidFill>
          <a:ln w="12700">
            <a:solidFill>
              <a:srgbClr val="007D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Yuvateja Mullapudi</a:t>
            </a:r>
            <a:r>
              <a:rPr lang="en-US" sz="12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RV37497  ·  Prof. Dr. Chaojie (Jay) Wang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C42"/>
          </a:solidFill>
          <a:ln w="12700">
            <a:solidFill>
              <a:srgbClr val="1A2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371600" cy="256032"/>
          </a:xfrm>
          <a:prstGeom prst="rect">
            <a:avLst/>
          </a:prstGeom>
          <a:solidFill>
            <a:srgbClr val="00C2D4">
              <a:alpha val="2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2344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947672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4767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94767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660904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66090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66090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374136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37413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337413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4087368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408736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40873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23444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12344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12344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Methodology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947672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194767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94960" y="194767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660904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266090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94960" y="266090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Scoring &amp; Dashboard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374136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337413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94960" y="337413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371600" cy="256032"/>
          </a:xfrm>
          <a:prstGeom prst="rect">
            <a:avLst/>
          </a:prstGeom>
          <a:solidFill>
            <a:srgbClr val="00C2D4">
              <a:alpha val="2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54864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Modern AI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80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≠ Reliability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30428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overall accuracy hides dangerous confident errors at the individual prediction level.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280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30428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fail without warning — no indicator distinguishes safe predictions from risky ones.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2344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280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🏦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7220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Stakes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30428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fraud detection, a misclassified transaction can mean financial loss, account takeover, or harm to customers.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20040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1A2C4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200400"/>
            <a:ext cx="54864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46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Solution: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5661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ReliabilityGuard — a meta-learning system that predicts both outcomes AND reliability, enabling trustworthy, failure-aware AI in high-stakes financial environments.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371600" cy="256032"/>
          </a:xfrm>
          <a:prstGeom prst="rect">
            <a:avLst/>
          </a:prstGeom>
          <a:solidFill>
            <a:srgbClr val="00C2D4">
              <a:alpha val="2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54864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Key Concepts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25880" y="1298448"/>
            <a:ext cx="822960" cy="822960"/>
          </a:xfrm>
          <a:prstGeom prst="ellipse">
            <a:avLst/>
          </a:prstGeom>
          <a:solidFill>
            <a:srgbClr val="00C2D4">
              <a:alpha val="20000"/>
            </a:srgbClr>
          </a:solidFill>
          <a:ln w="19050">
            <a:solidFill>
              <a:srgbClr val="00C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2984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2128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Classifier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81635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Random Forest + Logistic Regression trained on IEEE-CIS fraud data to generate predictions.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60520" y="1298448"/>
            <a:ext cx="822960" cy="822960"/>
          </a:xfrm>
          <a:prstGeom prst="ellipse">
            <a:avLst/>
          </a:prstGeom>
          <a:solidFill>
            <a:srgbClr val="F5A623">
              <a:alpha val="20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12984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37560" y="22128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Forecasting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5420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Meta-Learning Model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281635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secondary LightGBM model trained to predict when the primary model will make an incorrect prediction.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123444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95160" y="1298448"/>
            <a:ext cx="822960" cy="822960"/>
          </a:xfrm>
          <a:prstGeom prst="ellipse">
            <a:avLst/>
          </a:prstGeom>
          <a:solidFill>
            <a:srgbClr val="22C55E">
              <a:alpha val="20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12984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72200" y="22128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Scoring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72200" y="25420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Layer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281635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failure probability to a reliability score (0–1). High → safe, Low → risky. Enables filtering.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749040"/>
            <a:ext cx="1920240" cy="347472"/>
          </a:xfrm>
          <a:prstGeom prst="rect">
            <a:avLst/>
          </a:prstGeom>
          <a:solidFill>
            <a:srgbClr val="007D8A">
              <a:alpha val="4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749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14600" y="3749040"/>
            <a:ext cx="1920240" cy="347472"/>
          </a:xfrm>
          <a:prstGeom prst="rect">
            <a:avLst/>
          </a:prstGeom>
          <a:solidFill>
            <a:srgbClr val="007D8A">
              <a:alpha val="4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749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3749040"/>
            <a:ext cx="1920240" cy="347472"/>
          </a:xfrm>
          <a:prstGeom prst="rect">
            <a:avLst/>
          </a:prstGeom>
          <a:solidFill>
            <a:srgbClr val="007D8A">
              <a:alpha val="4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3749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Estimation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20840" y="3749040"/>
            <a:ext cx="1920240" cy="347472"/>
          </a:xfrm>
          <a:prstGeom prst="rect">
            <a:avLst/>
          </a:prstGeom>
          <a:solidFill>
            <a:srgbClr val="007D8A">
              <a:alpha val="4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3749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371600" cy="256032"/>
          </a:xfrm>
          <a:prstGeom prst="rect">
            <a:avLst/>
          </a:prstGeom>
          <a:solidFill>
            <a:srgbClr val="00C2D4">
              <a:alpha val="2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54864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IEEE-CIS Fraud Detection Dataset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34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18470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18872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234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18470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18872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234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17720" y="18470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Sample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118872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1234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20840" y="18470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423160"/>
            <a:ext cx="4114800" cy="2423160"/>
          </a:xfrm>
          <a:prstGeom prst="roundRect">
            <a:avLst>
              <a:gd name="adj" fmla="val 3019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24871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Dataset Info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2852928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IEEE-CIS Competition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CSV files: train/test × transaction/identity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on TransactionID (left join)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via TransactionDT offset (seconds)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one financial transaction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to 100K rows for compute efficiency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423160"/>
            <a:ext cx="4069080" cy="2423160"/>
          </a:xfrm>
          <a:prstGeom prst="roundRect">
            <a:avLst>
              <a:gd name="adj" fmla="val 3019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24871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Feature Groups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287121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TransactionAmt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87121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amount of transaction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319125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31912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(W/H/C/S/R)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51129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card1–card6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351129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network, type, issuer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383133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DeviceType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38313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or Mobile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415137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V1–V339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415137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Vesta-engineered features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447141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C1–C14 / D1–D15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447141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&amp; timedelta features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371600" cy="256032"/>
          </a:xfrm>
          <a:prstGeom prst="rect">
            <a:avLst/>
          </a:prstGeom>
          <a:solidFill>
            <a:srgbClr val="00C2D4">
              <a:alpha val="2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54864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8321040" cy="822960"/>
          </a:xfrm>
          <a:prstGeom prst="roundRect">
            <a:avLst>
              <a:gd name="adj" fmla="val 8889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54864" cy="82296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3444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28016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when a model will fail?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636776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meta-model that forecasts incorrect predictions before they occur, enabling preemptive intervention.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167128"/>
            <a:ext cx="8321040" cy="822960"/>
          </a:xfrm>
          <a:prstGeom prst="roundRect">
            <a:avLst>
              <a:gd name="adj" fmla="val 8889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167128"/>
            <a:ext cx="54864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167128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21284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signal model errors?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569464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meta-features — confidence, entropy, disagreement, distance — are most predictive of failure.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099816"/>
            <a:ext cx="8321040" cy="822960"/>
          </a:xfrm>
          <a:prstGeom prst="roundRect">
            <a:avLst>
              <a:gd name="adj" fmla="val 8889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099816"/>
            <a:ext cx="54864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099816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145536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reliability scores separate safe vs. risky predictions?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502152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whether the reliability score (1 – failure probability) effectively distinguishes trustworthy from unreliable outputs.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032504"/>
            <a:ext cx="8321040" cy="822960"/>
          </a:xfrm>
          <a:prstGeom prst="roundRect">
            <a:avLst>
              <a:gd name="adj" fmla="val 8889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4032504"/>
            <a:ext cx="54864" cy="82296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032504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7280" y="4078224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improve system safety?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43484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that filtering by reliability threshold increases prediction accuracy on retained transactions.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371600" cy="256032"/>
          </a:xfrm>
          <a:prstGeom prst="rect">
            <a:avLst/>
          </a:prstGeom>
          <a:solidFill>
            <a:srgbClr val="00C2D4">
              <a:alpha val="2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54864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Key Findings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435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11480" y="1572768"/>
          <a:ext cx="411480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4663440" y="1188720"/>
            <a:ext cx="4069080" cy="1828800"/>
          </a:xfrm>
          <a:prstGeom prst="roundRect">
            <a:avLst>
              <a:gd name="adj" fmla="val 4000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54880" y="12435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by Product Type</a:t>
            </a:r>
            <a:endParaRPr lang="en-US" sz="13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4663440" y="1572768"/>
          <a:ext cx="406908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315468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11480" y="315468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005840" y="31912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= Signal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005840" y="34564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 had higher missingness on identity features — fraudsters avoid leaving traces.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36592" y="315468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736592" y="315468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330952" y="31912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Mismatch → Fraud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330952" y="34564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Purchaser / recipient email domain mismatch strongly correlated with fraudulent activity.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11480" y="3995928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411480" y="3995928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1005840" y="40325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Overconfidence Problem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005840" y="4297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errors occurred even at &gt;80% predicted confidence — motivating the failure forecasting layer.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736592" y="3995928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4736592" y="3995928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5330952" y="40325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Variation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330952" y="4297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rates shifted over time. A 10-day rolling average revealed gradual trend changes in the data.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371600" cy="256032"/>
          </a:xfrm>
          <a:prstGeom prst="rect">
            <a:avLst/>
          </a:prstGeom>
          <a:solidFill>
            <a:srgbClr val="00C2D4">
              <a:alpha val="2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54864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435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Ensemble Base 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64208"/>
            <a:ext cx="73152" cy="25603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64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1664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estimators, lr=0.05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048256"/>
            <a:ext cx="73152" cy="25603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48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048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estimators, n_jobs=-1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432304"/>
            <a:ext cx="73152" cy="25603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4323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4323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max_iter=1000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Cross-Validation · Ensemble by averaging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4069080" cy="1737360"/>
          </a:xfrm>
          <a:prstGeom prst="roundRect">
            <a:avLst>
              <a:gd name="adj" fmla="val 4211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12435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Failure Forecasting Meta-Model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1664208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16642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 — ensemble probability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197510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19751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 — prediction uncertainty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228600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2286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 — margin from boundary (|p − 0.5|)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59689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25968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missing_count  — missing features per row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2907792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2907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 — std across LGB / RF / LR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090672"/>
            <a:ext cx="8321040" cy="896112"/>
          </a:xfrm>
          <a:prstGeom prst="roundRect">
            <a:avLst>
              <a:gd name="adj" fmla="val 8163"/>
            </a:avLst>
          </a:prstGeom>
          <a:solidFill>
            <a:srgbClr val="1A2C4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090672"/>
            <a:ext cx="54864" cy="8961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2186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Score  =  1  −  P(Model Error)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9436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 → trustworthy prediction  ·  Low score → flag for review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41605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Selection: Top 150 features by LightGBM importance (pre-screen pass, 100 estimators)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371600" cy="256032"/>
          </a:xfrm>
          <a:prstGeom prst="rect">
            <a:avLst/>
          </a:prstGeom>
          <a:solidFill>
            <a:srgbClr val="00C2D4">
              <a:alpha val="2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54864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Results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435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Ensemble 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7099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0.9027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23225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664208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17099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97.42%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06040" y="23225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2435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Forecasting Meta-Model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664208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7099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0.8608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54880" y="23225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AUC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1664208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7099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0.0203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812280" y="23225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274320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28163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ECE = 0.0018  —  Near-perfect calibration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2743200"/>
            <a:ext cx="4069080" cy="685800"/>
          </a:xfrm>
          <a:prstGeom prst="roundRect">
            <a:avLst>
              <a:gd name="adj" fmla="val 10667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28163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AUC 0.86 means the model reliably separates correct vs. incorrect predictions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566160"/>
            <a:ext cx="8321040" cy="1298448"/>
          </a:xfrm>
          <a:prstGeom prst="roundRect">
            <a:avLst>
              <a:gd name="adj" fmla="val 5634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36210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Metrics Mean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0050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65960" y="40050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0" y="40050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0.9027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17720" y="40050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separation of fraud vs. legitimate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2153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AUC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965960" y="421538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Detection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0" y="42153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0.8608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17720" y="42153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ability to predict model errors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44256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965960" y="442569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Accuracy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0" y="44256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0.0203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17720" y="44256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accurate failure probabilities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46360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965960" y="46360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0" y="46360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17720" y="46360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closely matches actual correctness rate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371600" cy="256032"/>
          </a:xfrm>
          <a:prstGeom prst="rect">
            <a:avLst/>
          </a:prstGeom>
          <a:solidFill>
            <a:srgbClr val="00C2D4">
              <a:alpha val="2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54864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Scoring &amp; Threshold Analysis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1A2C4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61872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Score  =  1  −  P(Failure)      →      Score near 1.0 = trusted prediction  ·  Score near 0.0 = flag for human review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938528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99339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Sweep: Coverage vs. Accuracy</a:t>
            </a:r>
            <a:endParaRPr lang="en-US" sz="12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11480" y="2322576"/>
          <a:ext cx="50292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5577840" y="1938528"/>
            <a:ext cx="3154680" cy="2743200"/>
          </a:xfrm>
          <a:prstGeom prst="roundRect">
            <a:avLst>
              <a:gd name="adj" fmla="val 2667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15000" y="19933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69280" y="2395728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threshold → fewer transactions retained (coverage ↓) but higher accuracy on retained set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threshold 0.80: 60% coverage, ~99% accuracy — a practical operating point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effectively separates reliable from unreliable predictions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human-in-the-loop: flag low-reliability transactions for review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371600" cy="256032"/>
          </a:xfrm>
          <a:prstGeom prst="rect">
            <a:avLst/>
          </a:prstGeom>
          <a:solidFill>
            <a:srgbClr val="00C2D4">
              <a:alpha val="2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54864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ReliabilityGuard — Streamlit Dashboard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54864" cy="16002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🔮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61288" y="13075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Single-Transaction Verdict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61288" y="16916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reliability score, error rate, and amount → instant Fraud / Legitimate prediction with composite risk %.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36592" y="123444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1234440"/>
            <a:ext cx="54864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0" y="13075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Dashboard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16916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card network, type, device, product, and transaction amount. Live metrics: fraud rate, reliability, error rate.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06324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063240"/>
            <a:ext cx="54864" cy="1600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61288" y="31363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Analytics (2×2)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61288" y="35204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histogram · Fraud bar chart · Error distribution · Reliability vs. Error scatter map with decision boundary.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36592" y="306324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36592" y="3063240"/>
            <a:ext cx="54864" cy="1600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486400" y="31363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Risk Table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35204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audit view of up to 30 filtered transactions with fraud label, reliability score, and error for each.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Streamlit  ·  Matplotlib &amp; Seaborn  ·  Python Pickle  ·  Google Colab  ·  Dark Fintech UI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371600" cy="256032"/>
          </a:xfrm>
          <a:prstGeom prst="rect">
            <a:avLst/>
          </a:prstGeom>
          <a:solidFill>
            <a:srgbClr val="00C2D4">
              <a:alpha val="2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54864" cy="5029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4114800" cy="2194560"/>
          </a:xfrm>
          <a:prstGeom prst="roundRect">
            <a:avLst>
              <a:gd name="adj" fmla="val 3333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435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Was Achieved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3-model ensemble (LGB + RF + LR) with 5-fold CV achieving AUC 0.9027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Meta-learning failure forecasting model with AUC 0.8608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0.0018 — near-perfect probability calibration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scoring system with threshold sweep analysis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dashboard for real-time monitoring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69080" cy="2194560"/>
          </a:xfrm>
          <a:prstGeom prst="roundRect">
            <a:avLst>
              <a:gd name="adj" fmla="val 3333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2435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6459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fraud rule — simplified for dashboard demo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sample may limit generalization to full 590K dataset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concept drift detection — static model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(-999) imputation may add noise to meta-features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explainability (SHAP) for reliability predictions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520440"/>
            <a:ext cx="8321040" cy="1280160"/>
          </a:xfrm>
          <a:prstGeom prst="roundRect">
            <a:avLst>
              <a:gd name="adj" fmla="val 5714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57530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Research Directions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Real-time deployment with drift monitoring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3977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Conformal prediction for statistical guarantees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3977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SHAP explainability for reliability scores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3616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Cross-domain: healthcare &amp; NLP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43616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Online learning with streaming data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43616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Deep learning backbone models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6400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🛡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3017520"/>
            <a:ext cx="2743200" cy="27432"/>
          </a:xfrm>
          <a:prstGeom prst="rect">
            <a:avLst/>
          </a:prstGeom>
          <a:solidFill>
            <a:srgbClr val="007D8A"/>
          </a:solidFill>
          <a:ln w="12700">
            <a:solidFill>
              <a:srgbClr val="007D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54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Yuvateja Mullapudi</a:t>
            </a:r>
            <a:r>
              <a:rPr lang="en-US" sz="12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RV37497  |  DATA 606 Capstone  |  Spring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5478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Chaojie (Jay) Wang  ·  UMBC Data Science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40233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40690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GitHub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43525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https://github.com/MULLAPUDIYUVATEJA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0" y="40233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57600" y="40690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LinkedIn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43525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www.linkedin.com/in/mullapudiyuvateja</a:t>
            </a:r>
          </a:p>
        </p:txBody>
      </p:sp>
      <p:sp>
        <p:nvSpPr>
          <p:cNvPr id="16" name="Shape 14"/>
          <p:cNvSpPr/>
          <p:nvPr/>
        </p:nvSpPr>
        <p:spPr>
          <a:xfrm>
            <a:off x="5943600" y="40233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E3A52"/>
          </a:solidFill>
          <a:ln w="12700">
            <a:solidFill>
              <a:srgbClr val="007D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40690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YouTube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43525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8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https://youtu.be/WiDVf4F_iqc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1194</Words>
  <Application>Microsoft Office PowerPoint</Application>
  <PresentationFormat>On-screen Show (16:9)</PresentationFormat>
  <Paragraphs>243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ReliabilityGuard</dc:title>
  <dc:subject>PptxGenJS Presentation</dc:subject>
  <dc:creator>Yuvateja Mullapudi</dc:creator>
  <cp:lastModifiedBy>Yuvateja Mullapudi</cp:lastModifiedBy>
  <cp:revision>3</cp:revision>
  <dcterms:created xsi:type="dcterms:W3CDTF">2026-05-18T02:28:34Z</dcterms:created>
  <dcterms:modified xsi:type="dcterms:W3CDTF">2026-05-18T04:51:41Z</dcterms:modified>
</cp:coreProperties>
</file>